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2E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 algn="ctr"/>
            <a:r>
              <a:rPr sz="4800">
                <a:solidFill>
                  <a:srgbClr val="4A4A4A"/>
                </a:solidFill>
                <a:latin typeface="Calibri Light"/>
              </a:rPr>
              <a:t>Clase Introductoria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 algn="ctr"/>
            <a:r>
              <a:rPr sz="2400">
                <a:solidFill>
                  <a:srgbClr val="69645F"/>
                </a:solidFill>
                <a:latin typeface="Calibri Light"/>
              </a:rPr>
              <a:t>Primer acercamiento a los contenidos del taller</a:t>
            </a:r>
          </a:p>
        </p:txBody>
      </p:sp>
      <p:sp>
        <p:nvSpPr>
          <p:cNvPr id="4" name="Straight Connector 3"/>
          <p:cNvSpPr/>
          <p:nvPr/>
        </p:nvSpPr>
        <p:spPr>
          <a:xfrm>
            <a:off x="1371600" y="6217920"/>
            <a:ext cx="1828800" cy="0"/>
          </a:xfrm>
          <a:prstGeom prst="lineInv">
            <a:avLst/>
          </a:prstGeom>
          <a:ln w="9525">
            <a:solidFill>
              <a:srgbClr val="B4AFA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2E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71600" y="1097280"/>
            <a:ext cx="6400800" cy="0"/>
          </a:xfrm>
        </p:spPr>
        <p:txBody>
          <a:bodyPr/>
          <a:lstStyle/>
          <a:p>
            <a:pPr algn="l"/>
            <a:r>
              <a:rPr sz="3600">
                <a:solidFill>
                  <a:srgbClr val="4A4A4A"/>
                </a:solidFill>
                <a:latin typeface="Calibri Light"/>
              </a:rPr>
              <a:t>Preparación Inicial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371600" y="2286000"/>
            <a:ext cx="6400800" cy="3657600"/>
          </a:xfrm>
        </p:spPr>
        <p:txBody>
          <a:bodyPr/>
          <a:lstStyle/>
          <a:p>
            <a:r>
              <a:rPr sz="2000">
                <a:solidFill>
                  <a:srgbClr val="69645F"/>
                </a:solidFill>
                <a:latin typeface="Calibri Light"/>
              </a:rPr>
              <a:t>• Iniciar sesión en la cuenta de invitado (siempre limpia)</a:t>
            </a:r>
          </a:p>
          <a:p>
            <a:r>
              <a:rPr sz="2000">
                <a:solidFill>
                  <a:srgbClr val="69645F"/>
                </a:solidFill>
                <a:latin typeface="Calibri Light"/>
              </a:rPr>
              <a:t>• Acceso a cuenta de Google de Tumo</a:t>
            </a:r>
          </a:p>
          <a:p>
            <a:r>
              <a:rPr sz="2000">
                <a:solidFill>
                  <a:srgbClr val="69645F"/>
                </a:solidFill>
                <a:latin typeface="Calibri Light"/>
              </a:rPr>
              <a:t>• Acceso a cuenta de tumo.world</a:t>
            </a:r>
          </a:p>
          <a:p>
            <a:r>
              <a:rPr sz="2000">
                <a:solidFill>
                  <a:srgbClr val="69645F"/>
                </a:solidFill>
                <a:latin typeface="Calibri Light"/>
              </a:rPr>
              <a:t/>
            </a:r>
          </a:p>
          <a:p>
            <a:r>
              <a:rPr sz="2000">
                <a:solidFill>
                  <a:srgbClr val="69645F"/>
                </a:solidFill>
                <a:latin typeface="Calibri Light"/>
              </a:rPr>
              <a:t>¡Estamos listos para empezar!</a:t>
            </a:r>
          </a:p>
        </p:txBody>
      </p:sp>
      <p:sp>
        <p:nvSpPr>
          <p:cNvPr id="4" name="Straight Connector 3"/>
          <p:cNvSpPr/>
          <p:nvPr/>
        </p:nvSpPr>
        <p:spPr>
          <a:xfrm>
            <a:off x="1371600" y="6217920"/>
            <a:ext cx="1828800" cy="0"/>
          </a:xfrm>
          <a:prstGeom prst="lineInv">
            <a:avLst/>
          </a:prstGeom>
          <a:ln w="9525">
            <a:solidFill>
              <a:srgbClr val="B4AFA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2E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71600" y="1097280"/>
            <a:ext cx="6400800" cy="0"/>
          </a:xfrm>
        </p:spPr>
        <p:txBody>
          <a:bodyPr/>
          <a:lstStyle/>
          <a:p>
            <a:pPr algn="l"/>
            <a:r>
              <a:rPr sz="3600">
                <a:solidFill>
                  <a:srgbClr val="4A4A4A"/>
                </a:solidFill>
                <a:latin typeface="Calibri Light"/>
              </a:rPr>
              <a:t>Herramientas de Trabajo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371600" y="2286000"/>
            <a:ext cx="6400800" cy="3657600"/>
          </a:xfrm>
        </p:spPr>
        <p:txBody>
          <a:bodyPr/>
          <a:lstStyle/>
          <a:p>
            <a:r>
              <a:rPr sz="2000">
                <a:solidFill>
                  <a:srgbClr val="69645F"/>
                </a:solidFill>
                <a:latin typeface="Calibri Light"/>
              </a:rPr>
              <a:t>• Google Classroom</a:t>
            </a:r>
          </a:p>
          <a:p>
            <a:r>
              <a:rPr sz="2000">
                <a:solidFill>
                  <a:srgbClr val="69645F"/>
                </a:solidFill>
                <a:latin typeface="Calibri Light"/>
              </a:rPr>
              <a:t>• Google Drive</a:t>
            </a:r>
          </a:p>
          <a:p>
            <a:r>
              <a:rPr sz="2000">
                <a:solidFill>
                  <a:srgbClr val="69645F"/>
                </a:solidFill>
                <a:latin typeface="Calibri Light"/>
              </a:rPr>
              <a:t>• VSCode</a:t>
            </a:r>
          </a:p>
          <a:p>
            <a:r>
              <a:rPr sz="2000">
                <a:solidFill>
                  <a:srgbClr val="69645F"/>
                </a:solidFill>
                <a:latin typeface="Calibri Light"/>
              </a:rPr>
              <a:t>• Tumo Path</a:t>
            </a:r>
          </a:p>
          <a:p>
            <a:r>
              <a:rPr sz="2000">
                <a:solidFill>
                  <a:srgbClr val="69645F"/>
                </a:solidFill>
                <a:latin typeface="Calibri Light"/>
              </a:rPr>
              <a:t/>
            </a:r>
          </a:p>
          <a:p>
            <a:r>
              <a:rPr sz="2000">
                <a:solidFill>
                  <a:srgbClr val="69645F"/>
                </a:solidFill>
                <a:latin typeface="Calibri Light"/>
              </a:rPr>
              <a:t>Claves en la vida diaria del taller</a:t>
            </a:r>
          </a:p>
        </p:txBody>
      </p:sp>
      <p:sp>
        <p:nvSpPr>
          <p:cNvPr id="4" name="Straight Connector 3"/>
          <p:cNvSpPr/>
          <p:nvPr/>
        </p:nvSpPr>
        <p:spPr>
          <a:xfrm>
            <a:off x="1371600" y="6217920"/>
            <a:ext cx="1828800" cy="0"/>
          </a:xfrm>
          <a:prstGeom prst="lineInv">
            <a:avLst/>
          </a:prstGeom>
          <a:ln w="9525">
            <a:solidFill>
              <a:srgbClr val="B4AFA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2E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71600" y="1097280"/>
            <a:ext cx="6400800" cy="0"/>
          </a:xfrm>
        </p:spPr>
        <p:txBody>
          <a:bodyPr/>
          <a:lstStyle/>
          <a:p>
            <a:pPr algn="l"/>
            <a:r>
              <a:rPr sz="3600">
                <a:solidFill>
                  <a:srgbClr val="4A4A4A"/>
                </a:solidFill>
                <a:latin typeface="Calibri Light"/>
              </a:rPr>
              <a:t>Google Classroom y Drive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371600" y="2286000"/>
            <a:ext cx="6400800" cy="3657600"/>
          </a:xfrm>
        </p:spPr>
        <p:txBody>
          <a:bodyPr/>
          <a:lstStyle/>
          <a:p>
            <a:r>
              <a:rPr sz="2000">
                <a:solidFill>
                  <a:srgbClr val="69645F"/>
                </a:solidFill>
                <a:latin typeface="Calibri Light"/>
              </a:rPr>
              <a:t>Google Classroom:</a:t>
            </a:r>
          </a:p>
          <a:p>
            <a:r>
              <a:rPr sz="2000">
                <a:solidFill>
                  <a:srgbClr val="69645F"/>
                </a:solidFill>
                <a:latin typeface="Calibri Light"/>
              </a:rPr>
              <a:t>• Visualizar materiales, entregar ejercicios, recibir feedback y consultas</a:t>
            </a:r>
          </a:p>
          <a:p>
            <a:r>
              <a:rPr sz="2000">
                <a:solidFill>
                  <a:srgbClr val="69645F"/>
                </a:solidFill>
                <a:latin typeface="Calibri Light"/>
              </a:rPr>
              <a:t/>
            </a:r>
          </a:p>
          <a:p>
            <a:r>
              <a:rPr sz="2000">
                <a:solidFill>
                  <a:srgbClr val="69645F"/>
                </a:solidFill>
                <a:latin typeface="Calibri Light"/>
              </a:rPr>
              <a:t>Google Drive:</a:t>
            </a:r>
          </a:p>
          <a:p>
            <a:r>
              <a:rPr sz="2000">
                <a:solidFill>
                  <a:srgbClr val="69645F"/>
                </a:solidFill>
                <a:latin typeface="Calibri Light"/>
              </a:rPr>
              <a:t>• Repositorio personal</a:t>
            </a:r>
          </a:p>
          <a:p>
            <a:r>
              <a:rPr sz="2000">
                <a:solidFill>
                  <a:srgbClr val="69645F"/>
                </a:solidFill>
                <a:latin typeface="Calibri Light"/>
              </a:rPr>
              <a:t>• Importante: guardar antes de finalizar</a:t>
            </a:r>
          </a:p>
          <a:p>
            <a:r>
              <a:rPr sz="2000">
                <a:solidFill>
                  <a:srgbClr val="69645F"/>
                </a:solidFill>
                <a:latin typeface="Calibri Light"/>
              </a:rPr>
              <a:t>  (las cuentas borran archivos al cerrar sesión)</a:t>
            </a:r>
          </a:p>
        </p:txBody>
      </p:sp>
      <p:sp>
        <p:nvSpPr>
          <p:cNvPr id="4" name="Straight Connector 3"/>
          <p:cNvSpPr/>
          <p:nvPr/>
        </p:nvSpPr>
        <p:spPr>
          <a:xfrm>
            <a:off x="1371600" y="6217920"/>
            <a:ext cx="1828800" cy="0"/>
          </a:xfrm>
          <a:prstGeom prst="lineInv">
            <a:avLst/>
          </a:prstGeom>
          <a:ln w="9525">
            <a:solidFill>
              <a:srgbClr val="B4AFA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2E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71600" y="1097280"/>
            <a:ext cx="6400800" cy="0"/>
          </a:xfrm>
        </p:spPr>
        <p:txBody>
          <a:bodyPr/>
          <a:lstStyle/>
          <a:p>
            <a:pPr algn="l"/>
            <a:r>
              <a:rPr sz="3600">
                <a:solidFill>
                  <a:srgbClr val="4A4A4A"/>
                </a:solidFill>
                <a:latin typeface="Calibri Light"/>
              </a:rPr>
              <a:t>VS Code y Tumo Path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371600" y="2286000"/>
            <a:ext cx="6400800" cy="3657600"/>
          </a:xfrm>
        </p:spPr>
        <p:txBody>
          <a:bodyPr/>
          <a:lstStyle/>
          <a:p>
            <a:r>
              <a:rPr sz="2000">
                <a:solidFill>
                  <a:srgbClr val="69645F"/>
                </a:solidFill>
                <a:latin typeface="Calibri Light"/>
              </a:rPr>
              <a:t>VS Code:</a:t>
            </a:r>
          </a:p>
          <a:p>
            <a:r>
              <a:rPr sz="2000">
                <a:solidFill>
                  <a:srgbClr val="69645F"/>
                </a:solidFill>
                <a:latin typeface="Calibri Light"/>
              </a:rPr>
              <a:t>• Editor de código para escribir y desarrollar proyectos</a:t>
            </a:r>
          </a:p>
          <a:p>
            <a:r>
              <a:rPr sz="2000">
                <a:solidFill>
                  <a:srgbClr val="69645F"/>
                </a:solidFill>
                <a:latin typeface="Calibri Light"/>
              </a:rPr>
              <a:t>• Configurar "Autosave" para evitar pérdidas de información</a:t>
            </a:r>
          </a:p>
          <a:p>
            <a:r>
              <a:rPr sz="2000">
                <a:solidFill>
                  <a:srgbClr val="69645F"/>
                </a:solidFill>
                <a:latin typeface="Calibri Light"/>
              </a:rPr>
              <a:t/>
            </a:r>
          </a:p>
          <a:p>
            <a:r>
              <a:rPr sz="2000">
                <a:solidFill>
                  <a:srgbClr val="69645F"/>
                </a:solidFill>
                <a:latin typeface="Calibri Light"/>
              </a:rPr>
              <a:t>Tumo Path:</a:t>
            </a:r>
          </a:p>
          <a:p>
            <a:r>
              <a:rPr sz="2000">
                <a:solidFill>
                  <a:srgbClr val="69645F"/>
                </a:solidFill>
                <a:latin typeface="Calibri Light"/>
              </a:rPr>
              <a:t>• Abrir para marcar el presente cada día</a:t>
            </a:r>
          </a:p>
        </p:txBody>
      </p:sp>
      <p:sp>
        <p:nvSpPr>
          <p:cNvPr id="4" name="Straight Connector 3"/>
          <p:cNvSpPr/>
          <p:nvPr/>
        </p:nvSpPr>
        <p:spPr>
          <a:xfrm>
            <a:off x="1371600" y="6217920"/>
            <a:ext cx="1828800" cy="0"/>
          </a:xfrm>
          <a:prstGeom prst="lineInv">
            <a:avLst/>
          </a:prstGeom>
          <a:ln w="9525">
            <a:solidFill>
              <a:srgbClr val="B4AFA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2E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71600" y="1097280"/>
            <a:ext cx="6400800" cy="0"/>
          </a:xfrm>
        </p:spPr>
        <p:txBody>
          <a:bodyPr/>
          <a:lstStyle/>
          <a:p>
            <a:pPr algn="l"/>
            <a:r>
              <a:rPr sz="3600">
                <a:solidFill>
                  <a:srgbClr val="4A4A4A"/>
                </a:solidFill>
                <a:latin typeface="Calibri Light"/>
              </a:rPr>
              <a:t>Pasos para el Inicio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371600" y="2286000"/>
            <a:ext cx="6400800" cy="3657600"/>
          </a:xfrm>
        </p:spPr>
        <p:txBody>
          <a:bodyPr/>
          <a:lstStyle/>
          <a:p>
            <a:r>
              <a:rPr sz="2000">
                <a:solidFill>
                  <a:srgbClr val="69645F"/>
                </a:solidFill>
                <a:latin typeface="Calibri Light"/>
              </a:rPr>
              <a:t>1. Iniciar sesión como invitado en la iMac</a:t>
            </a:r>
          </a:p>
          <a:p>
            <a:r>
              <a:rPr sz="2000">
                <a:solidFill>
                  <a:srgbClr val="69645F"/>
                </a:solidFill>
                <a:latin typeface="Calibri Light"/>
              </a:rPr>
              <a:t>2. tumo.world -&gt; Establecer estado "Presente"</a:t>
            </a:r>
          </a:p>
          <a:p>
            <a:r>
              <a:rPr sz="2000">
                <a:solidFill>
                  <a:srgbClr val="69645F"/>
                </a:solidFill>
                <a:latin typeface="Calibri Light"/>
              </a:rPr>
              <a:t>3. Google Drive -&gt; Descargar/subir archivos de proyectos</a:t>
            </a:r>
          </a:p>
          <a:p>
            <a:r>
              <a:rPr sz="2000">
                <a:solidFill>
                  <a:srgbClr val="69645F"/>
                </a:solidFill>
                <a:latin typeface="Calibri Light"/>
              </a:rPr>
              <a:t>4. VSCode -&gt; Establecer "Auto Save"</a:t>
            </a:r>
          </a:p>
        </p:txBody>
      </p:sp>
      <p:sp>
        <p:nvSpPr>
          <p:cNvPr id="4" name="Straight Connector 3"/>
          <p:cNvSpPr/>
          <p:nvPr/>
        </p:nvSpPr>
        <p:spPr>
          <a:xfrm>
            <a:off x="1371600" y="6217920"/>
            <a:ext cx="1828800" cy="0"/>
          </a:xfrm>
          <a:prstGeom prst="lineInv">
            <a:avLst/>
          </a:prstGeom>
          <a:ln w="9525">
            <a:solidFill>
              <a:srgbClr val="B4AFA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2E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71600" y="1097280"/>
            <a:ext cx="6400800" cy="0"/>
          </a:xfrm>
        </p:spPr>
        <p:txBody>
          <a:bodyPr/>
          <a:lstStyle/>
          <a:p>
            <a:pPr algn="l"/>
            <a:r>
              <a:rPr sz="3600">
                <a:solidFill>
                  <a:srgbClr val="4A4A4A"/>
                </a:solidFill>
                <a:latin typeface="Calibri Light"/>
              </a:rPr>
              <a:t>Pasos para el Cierre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371600" y="2286000"/>
            <a:ext cx="6400800" cy="3657600"/>
          </a:xfrm>
        </p:spPr>
        <p:txBody>
          <a:bodyPr/>
          <a:lstStyle/>
          <a:p>
            <a:r>
              <a:rPr sz="2000">
                <a:solidFill>
                  <a:srgbClr val="69645F"/>
                </a:solidFill>
                <a:latin typeface="Calibri Light"/>
              </a:rPr>
              <a:t>1. Guardar el proyecto correctamente</a:t>
            </a:r>
          </a:p>
          <a:p>
            <a:r>
              <a:rPr sz="2000">
                <a:solidFill>
                  <a:srgbClr val="69645F"/>
                </a:solidFill>
                <a:latin typeface="Calibri Light"/>
              </a:rPr>
              <a:t>2. Subir el proyecto a Drive</a:t>
            </a:r>
          </a:p>
          <a:p>
            <a:r>
              <a:rPr sz="2000">
                <a:solidFill>
                  <a:srgbClr val="69645F"/>
                </a:solidFill>
                <a:latin typeface="Calibri Light"/>
              </a:rPr>
              <a:t>3. Subir tareas entregables a Classroom</a:t>
            </a:r>
          </a:p>
          <a:p>
            <a:r>
              <a:rPr sz="2000">
                <a:solidFill>
                  <a:srgbClr val="69645F"/>
                </a:solidFill>
                <a:latin typeface="Calibri Light"/>
              </a:rPr>
              <a:t>4. Cerrar sesión de todas las cuentas e iMac</a:t>
            </a:r>
          </a:p>
        </p:txBody>
      </p:sp>
      <p:sp>
        <p:nvSpPr>
          <p:cNvPr id="4" name="Straight Connector 3"/>
          <p:cNvSpPr/>
          <p:nvPr/>
        </p:nvSpPr>
        <p:spPr>
          <a:xfrm>
            <a:off x="1371600" y="6217920"/>
            <a:ext cx="1828800" cy="0"/>
          </a:xfrm>
          <a:prstGeom prst="lineInv">
            <a:avLst/>
          </a:prstGeom>
          <a:ln w="9525">
            <a:solidFill>
              <a:srgbClr val="B4AFA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2E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71600" y="1097280"/>
            <a:ext cx="6400800" cy="0"/>
          </a:xfrm>
        </p:spPr>
        <p:txBody>
          <a:bodyPr/>
          <a:lstStyle/>
          <a:p>
            <a:pPr algn="l"/>
            <a:r>
              <a:rPr sz="3600">
                <a:solidFill>
                  <a:srgbClr val="4A4A4A"/>
                </a:solidFill>
                <a:latin typeface="Calibri Light"/>
              </a:rPr>
              <a:t>Importante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371600" y="2286000"/>
            <a:ext cx="6400800" cy="3657600"/>
          </a:xfrm>
        </p:spPr>
        <p:txBody>
          <a:bodyPr/>
          <a:lstStyle/>
          <a:p>
            <a:r>
              <a:rPr sz="2000">
                <a:solidFill>
                  <a:srgbClr val="69645F"/>
                </a:solidFill>
                <a:latin typeface="Calibri Light"/>
              </a:rPr>
              <a:t>• Dediquen tiempo y esfuerzo para lograr buenos proyectos</a:t>
            </a:r>
          </a:p>
          <a:p>
            <a:r>
              <a:rPr sz="2000">
                <a:solidFill>
                  <a:srgbClr val="69645F"/>
                </a:solidFill>
                <a:latin typeface="Calibri Light"/>
              </a:rPr>
              <a:t>• Disfruten la experiencia y aprovechen para aprender</a:t>
            </a:r>
          </a:p>
          <a:p>
            <a:r>
              <a:rPr sz="2000">
                <a:solidFill>
                  <a:srgbClr val="69645F"/>
                </a:solidFill>
                <a:latin typeface="Calibri Light"/>
              </a:rPr>
              <a:t>• No importa cuántas veces fallen, sino qué aprenden de ello</a:t>
            </a:r>
          </a:p>
          <a:p>
            <a:r>
              <a:rPr sz="2000">
                <a:solidFill>
                  <a:srgbClr val="69645F"/>
                </a:solidFill>
                <a:latin typeface="Calibri Light"/>
              </a:rPr>
              <a:t/>
            </a:r>
          </a:p>
          <a:p>
            <a:r>
              <a:rPr sz="2000">
                <a:solidFill>
                  <a:srgbClr val="69645F"/>
                </a:solidFill>
                <a:latin typeface="Calibri Light"/>
              </a:rPr>
              <a:t>"Nada que valga la pena sale perfecto a la primera..."</a:t>
            </a:r>
          </a:p>
        </p:txBody>
      </p:sp>
      <p:sp>
        <p:nvSpPr>
          <p:cNvPr id="4" name="Straight Connector 3"/>
          <p:cNvSpPr/>
          <p:nvPr/>
        </p:nvSpPr>
        <p:spPr>
          <a:xfrm>
            <a:off x="1371600" y="6217920"/>
            <a:ext cx="1828800" cy="0"/>
          </a:xfrm>
          <a:prstGeom prst="lineInv">
            <a:avLst/>
          </a:prstGeom>
          <a:ln w="9525">
            <a:solidFill>
              <a:srgbClr val="B4AFA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2E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 algn="ctr"/>
            <a:r>
              <a:rPr sz="4800">
                <a:solidFill>
                  <a:srgbClr val="4A4A4A"/>
                </a:solidFill>
                <a:latin typeface="Calibri Light"/>
              </a:rPr>
              <a:t>¡ÉXITOS!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 algn="ctr"/>
            <a:r>
              <a:rPr sz="2400">
                <a:solidFill>
                  <a:srgbClr val="69645F"/>
                </a:solidFill>
                <a:latin typeface="Calibri Light"/>
              </a:rPr>
              <a:t/>
            </a:r>
          </a:p>
        </p:txBody>
      </p:sp>
      <p:sp>
        <p:nvSpPr>
          <p:cNvPr id="4" name="Straight Connector 3"/>
          <p:cNvSpPr/>
          <p:nvPr/>
        </p:nvSpPr>
        <p:spPr>
          <a:xfrm>
            <a:off x="1371600" y="6217920"/>
            <a:ext cx="1828800" cy="0"/>
          </a:xfrm>
          <a:prstGeom prst="lineInv">
            <a:avLst/>
          </a:prstGeom>
          <a:ln w="9525">
            <a:solidFill>
              <a:srgbClr val="B4AFA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